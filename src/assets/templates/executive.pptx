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7"/>
  </p:notesMasterIdLst>
  <p:sldIdLst>
    <p:sldId id="289" r:id="rId2"/>
    <p:sldId id="291" r:id="rId3"/>
    <p:sldId id="284" r:id="rId4"/>
    <p:sldId id="286" r:id="rId5"/>
    <p:sldId id="277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3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86"/>
    <p:restoredTop sz="94658"/>
  </p:normalViewPr>
  <p:slideViewPr>
    <p:cSldViewPr snapToGrid="0">
      <p:cViewPr>
        <p:scale>
          <a:sx n="72" d="100"/>
          <a:sy n="72" d="100"/>
        </p:scale>
        <p:origin x="680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E25AD-3EFA-704C-B876-2A071F540C61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ADA03-D0DA-CD49-9843-E3AD0BD817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689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ADA03-D0DA-CD49-9843-E3AD0BD81774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3948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4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90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3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4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1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6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6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4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65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0" name="Accent Glow Line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0D0D0F">
                  <a:alpha val="0"/>
                </a:srgbClr>
              </a:gs>
              <a:gs pos="35000">
                <a:srgbClr val="7C3AED">
                  <a:alpha val="60000"/>
                </a:srgbClr>
              </a:gs>
              <a:gs pos="65000">
                <a:srgbClr val="8B5CF6">
                  <a:alpha val="60000"/>
                </a:srgbClr>
              </a:gs>
              <a:gs pos="100000">
                <a:srgbClr val="0D0D0F">
                  <a:alpha val="0"/>
                </a:srgbClr>
              </a:gs>
            </a:gsLst>
            <a:lin ang="0" scaled="1"/>
          </a:gradFill>
          <a:ln w="0">
            <a:noFill/>
          </a:ln>
          <a:effectLst>
            <a:outerShdw blurRad="152400" algn="ctr" rotWithShape="0">
              <a:srgbClr val="7C3AED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2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F0F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rgbClr val="E5E7EB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rgbClr val="E5E7EB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rgbClr val="E5E7EB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rgbClr val="E5E7E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5E7EB"/>
          </a:solidFill>
        </a:defRPr>
      </a:defPPr>
      <a:lvl1pPr marL="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low"/>
          <p:cNvSpPr/>
          <p:nvPr/>
        </p:nvSpPr>
        <p:spPr>
          <a:xfrm>
            <a:off x="7747000" y="-508000"/>
            <a:ext cx="5715000" cy="5715000"/>
          </a:xfrm>
          <a:prstGeom prst="ellipse">
            <a:avLst/>
          </a:prstGeom>
          <a:gradFill>
            <a:gsLst>
              <a:gs pos="0">
                <a:srgbClr val="7C3AED">
                  <a:alpha val="45000"/>
                </a:srgbClr>
              </a:gs>
              <a:gs pos="100000">
                <a:srgbClr val="09090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0" name="Logo"/>
          <p:cNvSpPr txBox="1"/>
          <p:nvPr/>
        </p:nvSpPr>
        <p:spPr>
          <a:xfrm>
            <a:off x="635000" y="558800"/>
            <a:ext cx="127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/>
              </a:rPr>
              <a:t>Qualia</a:t>
            </a:r>
          </a:p>
        </p:txBody>
      </p:sp>
      <p:sp>
        <p:nvSpPr>
          <p:cNvPr id="211" name="Rpt Label"/>
          <p:cNvSpPr txBox="1"/>
          <p:nvPr/>
        </p:nvSpPr>
        <p:spPr>
          <a:xfrm>
            <a:off x="9144000" y="558800"/>
            <a:ext cx="2413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spc="150" dirty="0">
                <a:solidFill>
                  <a:srgbClr val="858594"/>
                </a:solidFill>
                <a:latin typeface="Inter"/>
              </a:rPr>
              <a:t>Executive Report</a:t>
            </a:r>
          </a:p>
        </p:txBody>
      </p:sp>
      <p:sp>
        <p:nvSpPr>
          <p:cNvPr id="220" name="Risk Badge"/>
          <p:cNvSpPr/>
          <p:nvPr/>
        </p:nvSpPr>
        <p:spPr>
          <a:xfrm>
            <a:off x="635000" y="254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lIns="165100" tIns="228600" rIns="165100" bIns="228600" anchor="ctr"/>
          <a:lstStyle/>
          <a:p>
            <a:pPr algn="ctr">
              <a:buNone/>
            </a:pPr>
            <a:r>
              <a:rPr lang="en-US" sz="1300" b="1" dirty="0">
                <a:solidFill>
                  <a:srgbClr val="7C3AED"/>
                </a:solidFill>
                <a:latin typeface="Inter"/>
              </a:rPr>
              <a:t>{risk_level}</a:t>
            </a:r>
          </a:p>
        </p:txBody>
      </p:sp>
      <p:sp>
        <p:nvSpPr>
          <p:cNvPr id="221" name="Product Name"/>
          <p:cNvSpPr txBox="1"/>
          <p:nvPr/>
        </p:nvSpPr>
        <p:spPr>
          <a:xfrm>
            <a:off x="635000" y="3098800"/>
            <a:ext cx="6096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800" b="1" dirty="0">
                <a:solidFill>
                  <a:srgbClr val="FFFFFF"/>
                </a:solidFill>
                <a:latin typeface="Inter"/>
              </a:rPr>
              <a:t>{product_name}</a:t>
            </a:r>
          </a:p>
        </p:txBody>
      </p:sp>
      <p:sp>
        <p:nvSpPr>
          <p:cNvPr id="222" name="Date"/>
          <p:cNvSpPr txBox="1"/>
          <p:nvPr/>
        </p:nvSpPr>
        <p:spPr>
          <a:xfrm>
            <a:off x="635000" y="3911600"/>
            <a:ext cx="4064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858594"/>
                </a:solidFill>
                <a:latin typeface="Inter"/>
              </a:rPr>
              <a:t>UX Audit Report  ·  {report_date}</a:t>
            </a:r>
          </a:p>
        </p:txBody>
      </p:sp>
      <p:sp>
        <p:nvSpPr>
          <p:cNvPr id="230" name="Line"/>
          <p:cNvSpPr/>
          <p:nvPr/>
        </p:nvSpPr>
        <p:spPr>
          <a:xfrm>
            <a:off x="635000" y="6286500"/>
            <a:ext cx="330200" cy="1905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1" name="Brand"/>
          <p:cNvSpPr txBox="1"/>
          <p:nvPr/>
        </p:nvSpPr>
        <p:spPr>
          <a:xfrm>
            <a:off x="1092200" y="6184900"/>
            <a:ext cx="2286000" cy="21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spc="1000" dirty="0">
                <a:solidFill>
                  <a:srgbClr val="858594"/>
                </a:solidFill>
                <a:latin typeface="Inter"/>
              </a:rPr>
              <a:t>Powered by Qualia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635000" y="558800"/>
            <a:ext cx="444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OVERVIEW</a:t>
            </a:r>
          </a:p>
        </p:txBody>
      </p:sp>
      <p:sp>
        <p:nvSpPr>
          <p:cNvPr id="301" name="Logo"/>
          <p:cNvSpPr txBox="1"/>
          <p:nvPr/>
        </p:nvSpPr>
        <p:spPr>
          <a:xfrm>
            <a:off x="10668000" y="558800"/>
            <a:ext cx="88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858594">
                    <a:alpha val="35000"/>
                  </a:srgbClr>
                </a:solidFill>
                <a:latin typeface="Inter"/>
              </a:rPr>
              <a:t>Qualia</a:t>
            </a:r>
          </a:p>
        </p:txBody>
      </p:sp>
      <p:sp>
        <p:nvSpPr>
          <p:cNvPr id="310" name="Summary Card"/>
          <p:cNvSpPr/>
          <p:nvPr/>
        </p:nvSpPr>
        <p:spPr>
          <a:xfrm>
            <a:off x="635000" y="1117600"/>
            <a:ext cx="6921500" cy="52832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Summary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Inter"/>
              </a:rPr>
              <a:t>{summary}</a:t>
            </a:r>
          </a:p>
        </p:txBody>
      </p:sp>
      <p:sp>
        <p:nvSpPr>
          <p:cNvPr id="311" name="Mission Card"/>
          <p:cNvSpPr/>
          <p:nvPr/>
        </p:nvSpPr>
        <p:spPr>
          <a:xfrm>
            <a:off x="7708900" y="1117600"/>
            <a:ext cx="3848100" cy="52832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Product Mission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{product_mission}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Eyebrow"/>
          <p:cNvSpPr txBox="1"/>
          <p:nvPr/>
        </p:nvSpPr>
        <p:spPr>
          <a:xfrm>
            <a:off x="635000" y="558800"/>
            <a:ext cx="444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KEY RISKS</a:t>
            </a:r>
          </a:p>
        </p:txBody>
      </p:sp>
      <p:sp>
        <p:nvSpPr>
          <p:cNvPr id="401" name="Logo"/>
          <p:cNvSpPr txBox="1"/>
          <p:nvPr/>
        </p:nvSpPr>
        <p:spPr>
          <a:xfrm>
            <a:off x="10668000" y="558800"/>
            <a:ext cx="88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858594">
                    <a:alpha val="35000"/>
                  </a:srgbClr>
                </a:solidFill>
                <a:latin typeface="Inter"/>
              </a:rPr>
              <a:t>Qualia</a:t>
            </a:r>
          </a:p>
        </p:txBody>
      </p:sp>
      <p:sp>
        <p:nvSpPr>
          <p:cNvPr id="410" name="Risk Card 1"/>
          <p:cNvSpPr/>
          <p:nvPr/>
        </p:nvSpPr>
        <p:spPr>
          <a:xfrm>
            <a:off x="635000" y="1117600"/>
            <a:ext cx="3539066" cy="52832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dirty="0">
                <a:solidFill>
                  <a:srgbClr val="35353F"/>
                </a:solidFill>
                <a:latin typeface="Inter"/>
              </a:rPr>
              <a:t>01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Inter"/>
              </a:rPr>
              <a:t>{risk_1_title}</a:t>
            </a:r>
          </a:p>
          <a:p>
            <a:pPr algn="l">
              <a:buNone/>
            </a:pPr>
            <a:r>
              <a:rPr lang="en-US" sz="100" dirty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spcBef>
                <a:spcPts val="1000"/>
              </a:spcBef>
              <a:lnSpc>
                <a:spcPct val="16000"/>
              </a:lnSpc>
              <a:buNone/>
            </a:pPr>
            <a:r>
              <a:rPr lang="en-US" sz="1600" dirty="0">
                <a:solidFill>
                  <a:srgbClr val="858594"/>
                </a:solidFill>
                <a:latin typeface="Inter"/>
              </a:rPr>
              <a:t>{risk_1_impact}</a:t>
            </a:r>
          </a:p>
        </p:txBody>
      </p:sp>
      <p:sp>
        <p:nvSpPr>
          <p:cNvPr id="411" name="Rule 1"/>
          <p:cNvSpPr/>
          <p:nvPr/>
        </p:nvSpPr>
        <p:spPr>
          <a:xfrm>
            <a:off x="889000" y="2352600"/>
            <a:ext cx="3031066" cy="12700"/>
          </a:xfrm>
          <a:prstGeom prst="rect">
            <a:avLst/>
          </a:prstGeom>
          <a:solidFill>
            <a:srgbClr val="27272F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0" name="Risk Card 2"/>
          <p:cNvSpPr/>
          <p:nvPr/>
        </p:nvSpPr>
        <p:spPr>
          <a:xfrm>
            <a:off x="4326466" y="1117600"/>
            <a:ext cx="3539066" cy="52832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dirty="0">
                <a:solidFill>
                  <a:srgbClr val="35353F"/>
                </a:solidFill>
                <a:latin typeface="Inter"/>
              </a:rPr>
              <a:t>02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Inter"/>
              </a:rPr>
              <a:t>{risk_2_title}</a:t>
            </a:r>
          </a:p>
          <a:p>
            <a:pPr algn="l">
              <a:buNone/>
            </a:pPr>
            <a:r>
              <a:rPr lang="en-US" sz="100" dirty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spcBef>
                <a:spcPts val="1000"/>
              </a:spcBef>
              <a:lnSpc>
                <a:spcPct val="16000"/>
              </a:lnSpc>
              <a:buNone/>
            </a:pPr>
            <a:r>
              <a:rPr lang="en-US" sz="1600" dirty="0">
                <a:solidFill>
                  <a:srgbClr val="858594"/>
                </a:solidFill>
                <a:latin typeface="Inter"/>
              </a:rPr>
              <a:t>{risk_2_impact}</a:t>
            </a:r>
          </a:p>
        </p:txBody>
      </p:sp>
      <p:sp>
        <p:nvSpPr>
          <p:cNvPr id="421" name="Rule 2"/>
          <p:cNvSpPr/>
          <p:nvPr/>
        </p:nvSpPr>
        <p:spPr>
          <a:xfrm>
            <a:off x="4580466" y="2352600"/>
            <a:ext cx="3031066" cy="12700"/>
          </a:xfrm>
          <a:prstGeom prst="rect">
            <a:avLst/>
          </a:prstGeom>
          <a:solidFill>
            <a:srgbClr val="27272F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0" name="Risk Card 3"/>
          <p:cNvSpPr/>
          <p:nvPr/>
        </p:nvSpPr>
        <p:spPr>
          <a:xfrm>
            <a:off x="8017932" y="1117600"/>
            <a:ext cx="3539066" cy="52832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dirty="0">
                <a:solidFill>
                  <a:srgbClr val="35353F"/>
                </a:solidFill>
                <a:latin typeface="Inter"/>
              </a:rPr>
              <a:t>03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Inter"/>
              </a:rPr>
              <a:t>{risk_3_title}</a:t>
            </a:r>
          </a:p>
          <a:p>
            <a:pPr algn="l">
              <a:buNone/>
            </a:pPr>
            <a:r>
              <a:rPr lang="en-US" sz="100" dirty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spcBef>
                <a:spcPts val="1000"/>
              </a:spcBef>
              <a:lnSpc>
                <a:spcPct val="16000"/>
              </a:lnSpc>
              <a:buNone/>
            </a:pPr>
            <a:r>
              <a:rPr lang="en-US" sz="1600" dirty="0">
                <a:solidFill>
                  <a:srgbClr val="858594"/>
                </a:solidFill>
                <a:latin typeface="Inter"/>
              </a:rPr>
              <a:t>{risk_3_impact}</a:t>
            </a:r>
          </a:p>
        </p:txBody>
      </p:sp>
      <p:sp>
        <p:nvSpPr>
          <p:cNvPr id="431" name="Rule 3"/>
          <p:cNvSpPr/>
          <p:nvPr/>
        </p:nvSpPr>
        <p:spPr>
          <a:xfrm>
            <a:off x="8271932" y="2352600"/>
            <a:ext cx="3031066" cy="12700"/>
          </a:xfrm>
          <a:prstGeom prst="rect">
            <a:avLst/>
          </a:prstGeom>
          <a:solidFill>
            <a:srgbClr val="27272F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Eyebrow"/>
          <p:cNvSpPr txBox="1"/>
          <p:nvPr/>
        </p:nvSpPr>
        <p:spPr>
          <a:xfrm>
            <a:off x="635000" y="558800"/>
            <a:ext cx="444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RECOMMENDATION</a:t>
            </a:r>
          </a:p>
        </p:txBody>
      </p:sp>
      <p:sp>
        <p:nvSpPr>
          <p:cNvPr id="501" name="Logo"/>
          <p:cNvSpPr txBox="1"/>
          <p:nvPr/>
        </p:nvSpPr>
        <p:spPr>
          <a:xfrm>
            <a:off x="10668000" y="558800"/>
            <a:ext cx="88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858594">
                    <a:alpha val="35000"/>
                  </a:srgbClr>
                </a:solidFill>
                <a:latin typeface="Inter"/>
              </a:rPr>
              <a:t>Qualia</a:t>
            </a:r>
          </a:p>
        </p:txBody>
      </p:sp>
      <p:sp>
        <p:nvSpPr>
          <p:cNvPr id="510" name="OBT Bar"/>
          <p:cNvSpPr/>
          <p:nvPr/>
        </p:nvSpPr>
        <p:spPr>
          <a:xfrm>
            <a:off x="635000" y="1117600"/>
            <a:ext cx="25400" cy="24130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OBT Text"/>
          <p:cNvSpPr txBox="1"/>
          <p:nvPr/>
        </p:nvSpPr>
        <p:spPr>
          <a:xfrm>
            <a:off x="889000" y="1117600"/>
            <a:ext cx="10668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One Big Thing</a:t>
            </a:r>
          </a:p>
          <a:p>
            <a:pPr algn="l">
              <a:spcBef>
                <a:spcPts val="700"/>
              </a:spcBef>
              <a:lnSpc>
                <a:spcPct val="14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/>
              </a:rPr>
              <a:t>{one_big_thing}</a:t>
            </a:r>
          </a:p>
        </p:txBody>
      </p:sp>
      <p:sp>
        <p:nvSpPr>
          <p:cNvPr id="512" name="Rule"/>
          <p:cNvSpPr/>
          <p:nvPr/>
        </p:nvSpPr>
        <p:spPr>
          <a:xfrm>
            <a:off x="635000" y="3733800"/>
            <a:ext cx="10922000" cy="12700"/>
          </a:xfrm>
          <a:prstGeom prst="rect">
            <a:avLst/>
          </a:prstGeom>
          <a:solidFill>
            <a:srgbClr val="27272F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3" name="Rec Text"/>
          <p:cNvSpPr txBox="1"/>
          <p:nvPr/>
        </p:nvSpPr>
        <p:spPr>
          <a:xfrm>
            <a:off x="635000" y="3962400"/>
            <a:ext cx="10922000" cy="2438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Full Recommendation</a:t>
            </a:r>
          </a:p>
          <a:p>
            <a:pPr algn="l">
              <a:spcBef>
                <a:spcPts val="800"/>
              </a:spcBef>
              <a:lnSpc>
                <a:spcPct val="16500"/>
              </a:lnSpc>
              <a:buNone/>
            </a:pPr>
            <a:r>
              <a:rPr lang="en-US" sz="1600" dirty="0">
                <a:solidFill>
                  <a:srgbClr val="858594"/>
                </a:solidFill>
                <a:latin typeface="Inter"/>
              </a:rPr>
              <a:t>{recommendation}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Eyebrow"/>
          <p:cNvSpPr txBox="1"/>
          <p:nvPr/>
        </p:nvSpPr>
        <p:spPr>
          <a:xfrm>
            <a:off x="635000" y="558800"/>
            <a:ext cx="444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VISUAL REFERENCE</a:t>
            </a:r>
          </a:p>
        </p:txBody>
      </p:sp>
      <p:sp>
        <p:nvSpPr>
          <p:cNvPr id="601" name="Logo"/>
          <p:cNvSpPr txBox="1"/>
          <p:nvPr/>
        </p:nvSpPr>
        <p:spPr>
          <a:xfrm>
            <a:off x="10668000" y="558800"/>
            <a:ext cx="88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858594">
                    <a:alpha val="35000"/>
                  </a:srgbClr>
                </a:solidFill>
                <a:latin typeface="Inter"/>
              </a:rPr>
              <a:t>Qualia</a:t>
            </a:r>
          </a:p>
        </p:txBody>
      </p:sp>
      <p:sp>
        <p:nvSpPr>
          <p:cNvPr id="610" name="Image Placeholder"/>
          <p:cNvSpPr/>
          <p:nvPr/>
        </p:nvSpPr>
        <p:spPr>
          <a:xfrm>
            <a:off x="635000" y="1117600"/>
            <a:ext cx="10922000" cy="52832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303040"/>
            </a:solidFill>
          </a:ln>
        </p:spPr>
        <p:txBody>
          <a:bodyPr wrap="square" lIns="254000" tIns="228600" rIns="254000" bIns="228600" anchor="ctr"/>
          <a:lstStyle/>
          <a:p>
            <a:pPr algn="ctr">
              <a:buNone/>
            </a:pPr>
            <a:r>
              <a:rPr lang="en-US" sz="100" dirty="0">
                <a:solidFill>
                  <a:srgbClr val="FFFFFF"/>
                </a:solidFill>
                <a:latin typeface="Inter"/>
              </a:rPr>
              <a:t/>
            </a:r>
          </a:p>
          <a:p>
            <a:pPr algn="ctr">
              <a:buNone/>
            </a:pPr>
            <a:r>
              <a:rPr lang="en-US" sz="1200" dirty="0">
                <a:solidFill>
                  <a:srgbClr val="858594"/>
                </a:solidFill>
                <a:latin typeface="Inter"/>
              </a:rPr>
              <a:t>Screenshot / Image Placeholder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100" dirty="0">
                <a:solidFill>
                  <a:srgbClr val="2A2A3A"/>
                </a:solidFill>
                <a:latin typeface="Inter"/>
              </a:rPr>
              <a:t>Injected at export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eep Night &amp; Electric Violet">
      <a:dk1>
        <a:srgbClr val="F0F0F5"/>
      </a:dk1>
      <a:lt1>
        <a:srgbClr val="0D0D0F"/>
      </a:lt1>
      <a:dk2>
        <a:srgbClr val="1A1A1F"/>
      </a:dk2>
      <a:lt2>
        <a:srgbClr val="9CA3AF"/>
      </a:lt2>
      <a:accent1>
        <a:srgbClr val="7C3AED"/>
      </a:accent1>
      <a:accent2>
        <a:srgbClr val="8B5CF6"/>
      </a:accent2>
      <a:accent3>
        <a:srgbClr val="6D28D9"/>
      </a:accent3>
      <a:accent4>
        <a:srgbClr val="A78BFA"/>
      </a:accent4>
      <a:accent5>
        <a:srgbClr val="4C1D95"/>
      </a:accent5>
      <a:accent6>
        <a:srgbClr val="C4B5FD"/>
      </a:accent6>
      <a:hlink>
        <a:srgbClr val="1AC16E"/>
      </a:hlink>
      <a:folHlink>
        <a:srgbClr val="00B0F0"/>
      </a:folHlink>
    </a:clrScheme>
    <a:fontScheme name="Deep Night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alia-ppt-eng" id="{FF47E39A-0CC8-204D-A169-2743F626CA67}" vid="{EF19C3E6-76CB-DC49-9824-E9BE736976C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0528BA-0770-9245-B543-F51E0E92762C}">
  <we:reference id="wa200010001" version="1.0.0.1" store="en-US" storeType="OMEX"/>
  <we:alternateReferences>
    <we:reference id="wa2000100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92</Words>
  <Application>Microsoft Macintosh PowerPoint</Application>
  <PresentationFormat>Widescreen</PresentationFormat>
  <Paragraphs>24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Arial</vt:lpstr>
      <vt:lpstr>Inter</vt:lpstr>
      <vt:lpstr>Montserrat</vt:lpstr>
      <vt:lpstr>DashVTI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De Iturbe</dc:creator>
  <cp:lastModifiedBy>Andrea De Iturbe</cp:lastModifiedBy>
  <cp:revision>10</cp:revision>
  <dcterms:created xsi:type="dcterms:W3CDTF">2026-03-17T23:50:15Z</dcterms:created>
  <dcterms:modified xsi:type="dcterms:W3CDTF">2026-03-18T22:34:01Z</dcterms:modified>
</cp:coreProperties>
</file>