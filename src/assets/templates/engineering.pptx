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7"/>
  </p:notesMasterIdLst>
  <p:sldIdLst>
    <p:sldId id="278" r:id="rId2"/>
    <p:sldId id="279" r:id="rId3"/>
    <p:sldId id="275" r:id="rId4"/>
    <p:sldId id="276" r:id="rId5"/>
    <p:sldId id="277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3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78"/>
    <p:restoredTop sz="94658"/>
  </p:normalViewPr>
  <p:slideViewPr>
    <p:cSldViewPr snapToGrid="0">
      <p:cViewPr varScale="1">
        <p:scale>
          <a:sx n="93" d="100"/>
          <a:sy n="93" d="100"/>
        </p:scale>
        <p:origin x="22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E25AD-3EFA-704C-B876-2A071F540C61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ADA03-D0DA-CD49-9843-E3AD0BD817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689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ADA03-D0DA-CD49-9843-E3AD0BD81774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3948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46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3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90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3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44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1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6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6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4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65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90" name="Accent Glow Line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gradFill>
            <a:gsLst>
              <a:gs pos="0">
                <a:srgbClr val="0D0D0F">
                  <a:alpha val="0"/>
                </a:srgbClr>
              </a:gs>
              <a:gs pos="35000">
                <a:srgbClr val="7C3AED">
                  <a:alpha val="60000"/>
                </a:srgbClr>
              </a:gs>
              <a:gs pos="65000">
                <a:srgbClr val="8B5CF6">
                  <a:alpha val="60000"/>
                </a:srgbClr>
              </a:gs>
              <a:gs pos="100000">
                <a:srgbClr val="0D0D0F">
                  <a:alpha val="0"/>
                </a:srgbClr>
              </a:gs>
            </a:gsLst>
            <a:lin ang="0" scaled="1"/>
          </a:gradFill>
          <a:ln w="0">
            <a:noFill/>
          </a:ln>
          <a:effectLst>
            <a:outerShdw blurRad="152400" algn="ctr" rotWithShape="0">
              <a:srgbClr val="7C3AED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22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rgbClr val="F0F0F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rgbClr val="E5E7EB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rgbClr val="E5E7EB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rgbClr val="E5E7EB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rgbClr val="E5E7EB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rgbClr val="E5E7E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5E7EB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5E7EB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5E7EB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5E7EB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5E7EB"/>
          </a:solidFill>
        </a:defRPr>
      </a:defPPr>
      <a:lvl1pPr marL="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5E7EB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low"/>
          <p:cNvSpPr/>
          <p:nvPr/>
        </p:nvSpPr>
        <p:spPr>
          <a:xfrm>
            <a:off x="8382000" y="3048000"/>
            <a:ext cx="4445000" cy="4445000"/>
          </a:xfrm>
          <a:prstGeom prst="ellipse">
            <a:avLst/>
          </a:prstGeom>
          <a:gradFill>
            <a:gsLst>
              <a:gs pos="0">
                <a:srgbClr val="7C3AED">
                  <a:alpha val="35000"/>
                </a:srgbClr>
              </a:gs>
              <a:gs pos="100000">
                <a:srgbClr val="09090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0" name="Logo"/>
          <p:cNvSpPr txBox="1"/>
          <p:nvPr/>
        </p:nvSpPr>
        <p:spPr>
          <a:xfrm>
            <a:off x="635000" y="558800"/>
            <a:ext cx="127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/>
              </a:rPr>
              <a:t>Qualia</a:t>
            </a:r>
          </a:p>
        </p:txBody>
      </p:sp>
      <p:sp>
        <p:nvSpPr>
          <p:cNvPr id="211" name="Rpt Type"/>
          <p:cNvSpPr txBox="1"/>
          <p:nvPr/>
        </p:nvSpPr>
        <p:spPr>
          <a:xfrm>
            <a:off x="8509000" y="558800"/>
            <a:ext cx="3048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spc="150" dirty="0">
                <a:solidFill>
                  <a:srgbClr val="858594"/>
                </a:solidFill>
                <a:latin typeface="Inter"/>
              </a:rPr>
              <a:t>{report_type}</a:t>
            </a:r>
          </a:p>
        </p:txBody>
      </p:sp>
      <p:sp>
        <p:nvSpPr>
          <p:cNvPr id="220" name="Product Name"/>
          <p:cNvSpPr txBox="1"/>
          <p:nvPr/>
        </p:nvSpPr>
        <p:spPr>
          <a:xfrm>
            <a:off x="635000" y="1168400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Inter"/>
              </a:rPr>
              <a:t>{product_name}</a:t>
            </a:r>
          </a:p>
        </p:txBody>
      </p:sp>
      <p:sp>
        <p:nvSpPr>
          <p:cNvPr id="221" name="Score"/>
          <p:cNvSpPr txBox="1"/>
          <p:nvPr/>
        </p:nvSpPr>
        <p:spPr>
          <a:xfrm>
            <a:off x="635000" y="2133600"/>
            <a:ext cx="57150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FFFFFF"/>
                </a:solidFill>
                <a:latin typeface="Inter"/>
              </a:rPr>
              <a:t>{score_line}</a:t>
            </a:r>
          </a:p>
        </p:txBody>
      </p:sp>
      <p:sp>
        <p:nvSpPr>
          <p:cNvPr id="222" name="Score Label"/>
          <p:cNvSpPr txBox="1"/>
          <p:nvPr/>
        </p:nvSpPr>
        <p:spPr>
          <a:xfrm>
            <a:off x="635000" y="2933700"/>
            <a:ext cx="571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858594"/>
                </a:solidFill>
                <a:latin typeface="Inter"/>
              </a:rPr>
              <a:t>Overall UX Score</a:t>
            </a:r>
          </a:p>
        </p:txBody>
      </p:sp>
      <p:sp>
        <p:nvSpPr>
          <p:cNvPr id="230" name="Sub Logic"/>
          <p:cNvSpPr/>
          <p:nvPr/>
        </p:nvSpPr>
        <p:spPr>
          <a:xfrm>
            <a:off x="6731000" y="1168400"/>
            <a:ext cx="4826000" cy="1193800"/>
          </a:xfrm>
          <a:prstGeom prst="roundRect">
            <a:avLst>
              <a:gd name="adj" fmla="val 3000"/>
            </a:avLst>
          </a:prstGeom>
          <a:solidFill>
            <a:srgbClr val="181820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Logic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Inter"/>
              </a:rPr>
              <a:t>{logic_score}</a:t>
            </a:r>
          </a:p>
        </p:txBody>
      </p:sp>
      <p:sp>
        <p:nvSpPr>
          <p:cNvPr id="231" name="Sub Heuristic"/>
          <p:cNvSpPr/>
          <p:nvPr/>
        </p:nvSpPr>
        <p:spPr>
          <a:xfrm>
            <a:off x="6731000" y="2514600"/>
            <a:ext cx="4826000" cy="1193800"/>
          </a:xfrm>
          <a:prstGeom prst="roundRect">
            <a:avLst>
              <a:gd name="adj" fmla="val 3000"/>
            </a:avLst>
          </a:prstGeom>
          <a:solidFill>
            <a:srgbClr val="181820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Heuristic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Inter"/>
              </a:rPr>
              <a:t>{heuristic_score}</a:t>
            </a:r>
          </a:p>
        </p:txBody>
      </p:sp>
      <p:sp>
        <p:nvSpPr>
          <p:cNvPr id="232" name="Sub Cognitive"/>
          <p:cNvSpPr/>
          <p:nvPr/>
        </p:nvSpPr>
        <p:spPr>
          <a:xfrm>
            <a:off x="6731000" y="3860800"/>
            <a:ext cx="4826000" cy="1193800"/>
          </a:xfrm>
          <a:prstGeom prst="roundRect">
            <a:avLst>
              <a:gd name="adj" fmla="val 3000"/>
            </a:avLst>
          </a:prstGeom>
          <a:solidFill>
            <a:srgbClr val="181820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Cognitive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Inter"/>
              </a:rPr>
              <a:t>{cognitive_score}</a:t>
            </a:r>
          </a:p>
        </p:txBody>
      </p:sp>
      <p:sp>
        <p:nvSpPr>
          <p:cNvPr id="233" name="Sub Interaction"/>
          <p:cNvSpPr/>
          <p:nvPr/>
        </p:nvSpPr>
        <p:spPr>
          <a:xfrm>
            <a:off x="6731000" y="5207000"/>
            <a:ext cx="4826000" cy="1193800"/>
          </a:xfrm>
          <a:prstGeom prst="roundRect">
            <a:avLst>
              <a:gd name="adj" fmla="val 3000"/>
            </a:avLst>
          </a:prstGeom>
          <a:solidFill>
            <a:srgbClr val="181820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Interaction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Inter"/>
              </a:rPr>
              <a:t>{interaction_score}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yebrow"/>
          <p:cNvSpPr txBox="1"/>
          <p:nvPr/>
        </p:nvSpPr>
        <p:spPr>
          <a:xfrm>
            <a:off x="635000" y="558800"/>
            <a:ext cx="444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7C3AED"/>
                </a:solidFill>
                <a:latin typeface="Inter"/>
              </a:rPr>
              <a:t>KEY FINDINGS</a:t>
            </a:r>
          </a:p>
        </p:txBody>
      </p:sp>
      <p:sp>
        <p:nvSpPr>
          <p:cNvPr id="301" name="Logo"/>
          <p:cNvSpPr txBox="1"/>
          <p:nvPr/>
        </p:nvSpPr>
        <p:spPr>
          <a:xfrm>
            <a:off x="10668000" y="558800"/>
            <a:ext cx="889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dirty="0">
                <a:solidFill>
                  <a:srgbClr val="858594">
                    <a:alpha val="35000"/>
                  </a:srgbClr>
                </a:solidFill>
                <a:latin typeface="Inter"/>
              </a:rPr>
              <a:t>Qualia</a:t>
            </a:r>
          </a:p>
        </p:txBody>
      </p:sp>
      <p:sp>
        <p:nvSpPr>
          <p:cNvPr id="310" name="OBT Card"/>
          <p:cNvSpPr/>
          <p:nvPr/>
        </p:nvSpPr>
        <p:spPr>
          <a:xfrm>
            <a:off x="635000" y="1117600"/>
            <a:ext cx="6667500" cy="3275584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7C3AED"/>
                </a:solidFill>
                <a:latin typeface="Inter"/>
              </a:rPr>
              <a:t>One Big Thing</a:t>
            </a:r>
          </a:p>
          <a:p>
            <a:pPr algn="l">
              <a:spcBef>
                <a:spcPts val="700"/>
              </a:spcBef>
              <a:lnSpc>
                <a:spcPct val="16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/>
              </a:rPr>
              <a:t>{one_big_thing}</a:t>
            </a:r>
          </a:p>
        </p:txBody>
      </p:sp>
      <p:sp>
        <p:nvSpPr>
          <p:cNvPr id="311" name="Mission Card"/>
          <p:cNvSpPr/>
          <p:nvPr/>
        </p:nvSpPr>
        <p:spPr>
          <a:xfrm>
            <a:off x="635000" y="4545584"/>
            <a:ext cx="6667500" cy="1855216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Product Mission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300" dirty="0">
                <a:solidFill>
                  <a:srgbClr val="858594"/>
                </a:solidFill>
                <a:latin typeface="Inter"/>
              </a:rPr>
              <a:t>{product_mission}</a:t>
            </a:r>
          </a:p>
        </p:txBody>
      </p:sp>
      <p:sp>
        <p:nvSpPr>
          <p:cNvPr id="320" name="Sub Logic"/>
          <p:cNvSpPr/>
          <p:nvPr/>
        </p:nvSpPr>
        <p:spPr>
          <a:xfrm>
            <a:off x="7454900" y="1117600"/>
            <a:ext cx="4102100" cy="1206500"/>
          </a:xfrm>
          <a:prstGeom prst="roundRect">
            <a:avLst>
              <a:gd name="adj" fmla="val 3000"/>
            </a:avLst>
          </a:prstGeom>
          <a:solidFill>
            <a:srgbClr val="181820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Logic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Inter"/>
              </a:rPr>
              <a:t>{logic_score}</a:t>
            </a:r>
          </a:p>
        </p:txBody>
      </p:sp>
      <p:sp>
        <p:nvSpPr>
          <p:cNvPr id="321" name="Sub Heuristic"/>
          <p:cNvSpPr/>
          <p:nvPr/>
        </p:nvSpPr>
        <p:spPr>
          <a:xfrm>
            <a:off x="7454900" y="2476500"/>
            <a:ext cx="4102100" cy="1206500"/>
          </a:xfrm>
          <a:prstGeom prst="roundRect">
            <a:avLst>
              <a:gd name="adj" fmla="val 3000"/>
            </a:avLst>
          </a:prstGeom>
          <a:solidFill>
            <a:srgbClr val="181820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Heuristic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Inter"/>
              </a:rPr>
              <a:t>{heuristic_score}</a:t>
            </a:r>
          </a:p>
        </p:txBody>
      </p:sp>
      <p:sp>
        <p:nvSpPr>
          <p:cNvPr id="322" name="Sub Cognitive"/>
          <p:cNvSpPr/>
          <p:nvPr/>
        </p:nvSpPr>
        <p:spPr>
          <a:xfrm>
            <a:off x="7454900" y="3835400"/>
            <a:ext cx="4102100" cy="1206500"/>
          </a:xfrm>
          <a:prstGeom prst="roundRect">
            <a:avLst>
              <a:gd name="adj" fmla="val 3000"/>
            </a:avLst>
          </a:prstGeom>
          <a:solidFill>
            <a:srgbClr val="181820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Cognitive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Inter"/>
              </a:rPr>
              <a:t>{cognitive_score}</a:t>
            </a:r>
          </a:p>
        </p:txBody>
      </p:sp>
      <p:sp>
        <p:nvSpPr>
          <p:cNvPr id="323" name="Sub Interaction"/>
          <p:cNvSpPr/>
          <p:nvPr/>
        </p:nvSpPr>
        <p:spPr>
          <a:xfrm>
            <a:off x="7454900" y="5194300"/>
            <a:ext cx="4102100" cy="1206500"/>
          </a:xfrm>
          <a:prstGeom prst="roundRect">
            <a:avLst>
              <a:gd name="adj" fmla="val 3000"/>
            </a:avLst>
          </a:prstGeom>
          <a:solidFill>
            <a:srgbClr val="181820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Interaction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Inter"/>
              </a:rPr>
              <a:t>{interaction_score}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tep Badge"/>
          <p:cNvSpPr/>
          <p:nvPr/>
        </p:nvSpPr>
        <p:spPr>
          <a:xfrm>
            <a:off x="635000" y="355600"/>
            <a:ext cx="1143000" cy="279400"/>
          </a:xfrm>
          <a:prstGeom prst="roundRect">
            <a:avLst>
              <a:gd name="adj" fmla="val 50000"/>
            </a:avLst>
          </a:prstGeom>
          <a:solidFill>
            <a:srgbClr val="7C3AED">
              <a:alpha val="14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lIns="139700" tIns="228600" rIns="139700" bIns="228600" anchor="ctr"/>
          <a:lstStyle/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Inter"/>
              </a:rPr>
              <a:t>{step_number}</a:t>
            </a:r>
          </a:p>
        </p:txBody>
      </p:sp>
      <p:sp>
        <p:nvSpPr>
          <p:cNvPr id="401" name="Step Title"/>
          <p:cNvSpPr txBox="1"/>
          <p:nvPr/>
        </p:nvSpPr>
        <p:spPr>
          <a:xfrm>
            <a:off x="1930400" y="355600"/>
            <a:ext cx="96266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Inter"/>
              </a:rPr>
              <a:t>{step_title}</a:t>
            </a:r>
          </a:p>
        </p:txBody>
      </p:sp>
      <p:sp>
        <p:nvSpPr>
          <p:cNvPr id="402" name="Engine Badge"/>
          <p:cNvSpPr/>
          <p:nvPr/>
        </p:nvSpPr>
        <p:spPr>
          <a:xfrm>
            <a:off x="635000" y="723900"/>
            <a:ext cx="1397000" cy="254000"/>
          </a:xfrm>
          <a:prstGeom prst="roundRect">
            <a:avLst>
              <a:gd name="adj" fmla="val 3000"/>
            </a:avLst>
          </a:prstGeom>
          <a:solidFill>
            <a:srgbClr val="181820"/>
          </a:solidFill>
          <a:ln w="9525">
            <a:solidFill>
              <a:srgbClr val="27272F"/>
            </a:solidFill>
          </a:ln>
        </p:spPr>
        <p:txBody>
          <a:bodyPr wrap="square" lIns="114300" tIns="228600" rIns="114300" bIns="22860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06B6D4"/>
                </a:solidFill>
                <a:latin typeface="Inter"/>
              </a:rPr>
              <a:t>{engine_label}</a:t>
            </a:r>
          </a:p>
        </p:txBody>
      </p:sp>
      <p:sp>
        <p:nvSpPr>
          <p:cNvPr id="403" name="Viol Badge"/>
          <p:cNvSpPr/>
          <p:nvPr/>
        </p:nvSpPr>
        <p:spPr>
          <a:xfrm>
            <a:off x="2184400" y="7239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0">
            <a:noFill/>
          </a:ln>
        </p:spPr>
        <p:txBody>
          <a:bodyPr wrap="square" lIns="254000" tIns="228600" rIns="254000" bIns="22860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/>
              </a:rPr>
              <a:t>{violation_count}</a:t>
            </a:r>
          </a:p>
        </p:txBody>
      </p:sp>
      <p:sp>
        <p:nvSpPr>
          <p:cNvPr id="404" name="Screenshot Placeholder"/>
          <p:cNvSpPr/>
          <p:nvPr/>
        </p:nvSpPr>
        <p:spPr>
          <a:xfrm>
            <a:off x="635000" y="1181100"/>
            <a:ext cx="6170929" cy="5219700"/>
          </a:xfrm>
          <a:prstGeom prst="roundRect">
            <a:avLst>
              <a:gd name="adj" fmla="val 3000"/>
            </a:avLst>
          </a:prstGeom>
          <a:solidFill>
            <a:srgbClr val="181820"/>
          </a:solidFill>
          <a:ln w="9525">
            <a:solidFill>
              <a:srgbClr val="303040"/>
            </a:solidFill>
          </a:ln>
        </p:spPr>
        <p:txBody>
          <a:bodyPr wrap="square" lIns="254000" tIns="228600" rIns="254000" bIns="228600" anchor="ctr"/>
          <a:lstStyle/>
          <a:p>
            <a:pPr algn="ctr">
              <a:buNone/>
            </a:pPr>
            <a:r>
              <a:rPr lang="en-US" sz="1200" dirty="0">
                <a:solidFill>
                  <a:srgbClr val="858594"/>
                </a:solidFill>
                <a:latin typeface="Inter"/>
              </a:rPr>
              <a:t>Screenshot Placeholder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100" dirty="0">
                <a:solidFill>
                  <a:srgbClr val="2A2A3A"/>
                </a:solidFill>
                <a:latin typeface="Inter"/>
              </a:rPr>
              <a:t>Issue pins overlaid at export</a:t>
            </a:r>
          </a:p>
        </p:txBody>
      </p:sp>
      <p:sp>
        <p:nvSpPr>
          <p:cNvPr id="405" name="Issue Border"/>
          <p:cNvSpPr/>
          <p:nvPr/>
        </p:nvSpPr>
        <p:spPr>
          <a:xfrm>
            <a:off x="6958329" y="1181100"/>
            <a:ext cx="25400" cy="2453259"/>
          </a:xfrm>
          <a:prstGeom prst="rect">
            <a:avLst/>
          </a:prstGeom>
          <a:solidFill>
            <a:srgbClr val="F87171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6" name="Issue Box"/>
          <p:cNvSpPr/>
          <p:nvPr/>
        </p:nvSpPr>
        <p:spPr>
          <a:xfrm>
            <a:off x="6983729" y="1181100"/>
            <a:ext cx="4573271" cy="2453259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20" dirty="0">
                <a:solidFill>
                  <a:srgbClr val="F87171"/>
                </a:solidFill>
                <a:latin typeface="Inter"/>
              </a:rPr>
              <a:t>{issue_title}</a:t>
            </a:r>
          </a:p>
          <a:p>
            <a:pPr algn="l">
              <a:spcBef>
                <a:spcPts val="600"/>
              </a:spcBef>
              <a:lnSpc>
                <a:spcPct val="16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/>
              </a:rPr>
              <a:t>{issue_body}</a:t>
            </a:r>
          </a:p>
        </p:txBody>
      </p:sp>
      <p:sp>
        <p:nvSpPr>
          <p:cNvPr id="407" name="Sugg Border"/>
          <p:cNvSpPr/>
          <p:nvPr/>
        </p:nvSpPr>
        <p:spPr>
          <a:xfrm>
            <a:off x="6958329" y="3786759"/>
            <a:ext cx="25400" cy="2614041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8" name="Sugg Box"/>
          <p:cNvSpPr/>
          <p:nvPr/>
        </p:nvSpPr>
        <p:spPr>
          <a:xfrm>
            <a:off x="6983729" y="3786759"/>
            <a:ext cx="4573271" cy="2614041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200" b="1" spc="120" dirty="0">
                <a:solidFill>
                  <a:srgbClr val="7C3AED"/>
                </a:solidFill>
                <a:latin typeface="Inter"/>
              </a:rPr>
              <a:t>{issue_title}</a:t>
            </a:r>
          </a:p>
          <a:p>
            <a:pPr algn="l">
              <a:spcBef>
                <a:spcPts val="600"/>
              </a:spcBef>
              <a:lnSpc>
                <a:spcPct val="16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/>
              </a:rPr>
              <a:t>{issue_body}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Note"/>
          <p:cNvSpPr txBox="1"/>
          <p:nvPr/>
        </p:nvSpPr>
        <p:spPr>
          <a:xfrm>
            <a:off x="635000" y="558800"/>
            <a:ext cx="5080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rgbClr val="858594"/>
                </a:solidFill>
                <a:latin typeface="Inter"/>
              </a:rPr>
              <a:t>Accessibility summary — generated at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Eyebrow"/>
          <p:cNvSpPr txBox="1"/>
          <p:nvPr/>
        </p:nvSpPr>
        <p:spPr>
          <a:xfrm>
            <a:off x="635000" y="558800"/>
            <a:ext cx="444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7C3AED"/>
                </a:solidFill>
                <a:latin typeface="Inter"/>
              </a:rPr>
              <a:t>SYNTHETIC USER RESEARCH</a:t>
            </a:r>
          </a:p>
        </p:txBody>
      </p:sp>
      <p:sp>
        <p:nvSpPr>
          <p:cNvPr id="601" name="Logo"/>
          <p:cNvSpPr txBox="1"/>
          <p:nvPr/>
        </p:nvSpPr>
        <p:spPr>
          <a:xfrm>
            <a:off x="10668000" y="558800"/>
            <a:ext cx="889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dirty="0">
                <a:solidFill>
                  <a:srgbClr val="858594">
                    <a:alpha val="35000"/>
                  </a:srgbClr>
                </a:solidFill>
                <a:latin typeface="Inter"/>
              </a:rPr>
              <a:t>Qualia</a:t>
            </a:r>
          </a:p>
        </p:txBody>
      </p:sp>
      <p:sp>
        <p:nvSpPr>
          <p:cNvPr id="610" name="CF Label"/>
          <p:cNvSpPr txBox="1"/>
          <p:nvPr/>
        </p:nvSpPr>
        <p:spPr>
          <a:xfrm>
            <a:off x="635000" y="1117600"/>
            <a:ext cx="10922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858594"/>
                </a:solidFill>
                <a:latin typeface="Inter"/>
              </a:rPr>
              <a:t>Critical Finding</a:t>
            </a:r>
          </a:p>
        </p:txBody>
      </p:sp>
      <p:sp>
        <p:nvSpPr>
          <p:cNvPr id="611" name="CF Text"/>
          <p:cNvSpPr txBox="1"/>
          <p:nvPr/>
        </p:nvSpPr>
        <p:spPr>
          <a:xfrm>
            <a:off x="635000" y="1320800"/>
            <a:ext cx="10922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/>
              </a:rPr>
              <a:t>{critical_finding}</a:t>
            </a:r>
          </a:p>
        </p:txBody>
      </p:sp>
      <p:sp>
        <p:nvSpPr>
          <p:cNvPr id="612" name="Rule"/>
          <p:cNvSpPr/>
          <p:nvPr/>
        </p:nvSpPr>
        <p:spPr>
          <a:xfrm>
            <a:off x="635000" y="1968500"/>
            <a:ext cx="10922000" cy="12700"/>
          </a:xfrm>
          <a:prstGeom prst="rect">
            <a:avLst/>
          </a:prstGeom>
          <a:solidFill>
            <a:srgbClr val="27272F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0" name="Persona 1"/>
          <p:cNvSpPr/>
          <p:nvPr/>
        </p:nvSpPr>
        <p:spPr>
          <a:xfrm>
            <a:off x="635000" y="2146300"/>
            <a:ext cx="3539066" cy="4254500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/>
              </a:rPr>
              <a:t>{p1_name}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7C3AED"/>
                </a:solidFill>
                <a:latin typeface="Inter"/>
              </a:rPr>
              <a:t>{p1_verdict}</a:t>
            </a:r>
          </a:p>
          <a:p>
            <a:pPr algn="l">
              <a:spcBef>
                <a:spcPts val="800"/>
              </a:spcBef>
              <a:lnSpc>
                <a:spcPct val="16000"/>
              </a:lnSpc>
              <a:buNone/>
            </a:pPr>
            <a:r>
              <a:rPr lang="en-US" sz="1300" dirty="0">
                <a:solidFill>
                  <a:srgbClr val="858594"/>
                </a:solidFill>
                <a:latin typeface="Inter"/>
              </a:rPr>
              <a:t>{p1_reasoning}</a:t>
            </a:r>
          </a:p>
        </p:txBody>
      </p:sp>
      <p:sp>
        <p:nvSpPr>
          <p:cNvPr id="621" name="Persona 2"/>
          <p:cNvSpPr/>
          <p:nvPr/>
        </p:nvSpPr>
        <p:spPr>
          <a:xfrm>
            <a:off x="4326466" y="2146300"/>
            <a:ext cx="3539066" cy="4254500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/>
              </a:rPr>
              <a:t>{p2_name}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7C3AED"/>
                </a:solidFill>
                <a:latin typeface="Inter"/>
              </a:rPr>
              <a:t>{p2_verdict}</a:t>
            </a:r>
          </a:p>
          <a:p>
            <a:pPr algn="l">
              <a:spcBef>
                <a:spcPts val="800"/>
              </a:spcBef>
              <a:lnSpc>
                <a:spcPct val="16000"/>
              </a:lnSpc>
              <a:buNone/>
            </a:pPr>
            <a:r>
              <a:rPr lang="en-US" sz="1300" dirty="0">
                <a:solidFill>
                  <a:srgbClr val="858594"/>
                </a:solidFill>
                <a:latin typeface="Inter"/>
              </a:rPr>
              <a:t>{p2_reasoning}</a:t>
            </a:r>
          </a:p>
        </p:txBody>
      </p:sp>
      <p:sp>
        <p:nvSpPr>
          <p:cNvPr id="622" name="Persona 3"/>
          <p:cNvSpPr/>
          <p:nvPr/>
        </p:nvSpPr>
        <p:spPr>
          <a:xfrm>
            <a:off x="8017932" y="2146300"/>
            <a:ext cx="3539066" cy="4254500"/>
          </a:xfrm>
          <a:prstGeom prst="roundRect">
            <a:avLst>
              <a:gd name="adj" fmla="val 3000"/>
            </a:avLst>
          </a:prstGeom>
          <a:solidFill>
            <a:srgbClr val="111117"/>
          </a:solidFill>
          <a:ln w="9525">
            <a:solidFill>
              <a:srgbClr val="27272F"/>
            </a:solidFill>
          </a:ln>
        </p:spPr>
        <p:txBody>
          <a:bodyPr wrap="square" lIns="254000" tIns="228600" rIns="254000" bIns="22860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/>
              </a:rPr>
              <a:t>{p3_name}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7C3AED"/>
                </a:solidFill>
                <a:latin typeface="Inter"/>
              </a:rPr>
              <a:t>{p3_verdict}</a:t>
            </a:r>
          </a:p>
          <a:p>
            <a:pPr algn="l">
              <a:spcBef>
                <a:spcPts val="800"/>
              </a:spcBef>
              <a:lnSpc>
                <a:spcPct val="16000"/>
              </a:lnSpc>
              <a:buNone/>
            </a:pPr>
            <a:r>
              <a:rPr lang="en-US" sz="1300" dirty="0">
                <a:solidFill>
                  <a:srgbClr val="858594"/>
                </a:solidFill>
                <a:latin typeface="Inter"/>
              </a:rPr>
              <a:t>{p3_reasoning}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eep Night &amp; Electric Violet">
      <a:dk1>
        <a:srgbClr val="F0F0F5"/>
      </a:dk1>
      <a:lt1>
        <a:srgbClr val="0D0D0F"/>
      </a:lt1>
      <a:dk2>
        <a:srgbClr val="1A1A1F"/>
      </a:dk2>
      <a:lt2>
        <a:srgbClr val="9CA3AF"/>
      </a:lt2>
      <a:accent1>
        <a:srgbClr val="7C3AED"/>
      </a:accent1>
      <a:accent2>
        <a:srgbClr val="8B5CF6"/>
      </a:accent2>
      <a:accent3>
        <a:srgbClr val="6D28D9"/>
      </a:accent3>
      <a:accent4>
        <a:srgbClr val="A78BFA"/>
      </a:accent4>
      <a:accent5>
        <a:srgbClr val="4C1D95"/>
      </a:accent5>
      <a:accent6>
        <a:srgbClr val="C4B5FD"/>
      </a:accent6>
      <a:hlink>
        <a:srgbClr val="1AC16E"/>
      </a:hlink>
      <a:folHlink>
        <a:srgbClr val="00B0F0"/>
      </a:folHlink>
    </a:clrScheme>
    <a:fontScheme name="Deep Night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0528BA-0770-9245-B543-F51E0E92762C}">
  <we:reference id="wa200010001" version="1.0.0.1" store="en-US" storeType="OMEX"/>
  <we:alternateReferences>
    <we:reference id="wa200010001" version="1.0.0.1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251</Words>
  <Application>Microsoft Macintosh PowerPoint</Application>
  <PresentationFormat>Widescreen</PresentationFormat>
  <Paragraphs>62</Paragraphs>
  <Slides>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Aptos</vt:lpstr>
      <vt:lpstr>Arial</vt:lpstr>
      <vt:lpstr>Inter</vt:lpstr>
      <vt:lpstr>Montserrat</vt:lpstr>
      <vt:lpstr>DashVTI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De Iturbe</dc:creator>
  <cp:lastModifiedBy>Andrea De Iturbe</cp:lastModifiedBy>
  <cp:revision>6</cp:revision>
  <dcterms:created xsi:type="dcterms:W3CDTF">2026-03-17T23:50:15Z</dcterms:created>
  <dcterms:modified xsi:type="dcterms:W3CDTF">2026-03-18T20:41:36Z</dcterms:modified>
</cp:coreProperties>
</file>